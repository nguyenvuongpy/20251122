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D983-746A-F98F-9CC4-F4BB3AEA7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5CB21-B941-0C60-3462-FE1D62DD6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8A926-AD95-06F7-3054-F02EF66B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402B1-526B-93FA-22C3-A5BE31CD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E7E8-FE37-6D83-867C-7AC09F0E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7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BC0A-585C-4518-8446-C29E39CC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F0FB7-46B0-BCCC-7AD5-4722E42F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00F7-C6F7-2EB5-1726-E20A9FB4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DF24A-153D-EEEE-3271-78C05CC7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89435-23AB-C02C-6904-6F53B3A6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9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EC8C-AD81-6A5A-BF78-867D9FBF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B6F93-960B-46A7-FE9D-7F5162D36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7280-00AA-3D59-32B3-55770FDB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196CF-65E3-2BA6-ADB7-E6EA5FF8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2BA3C-A765-BA96-0E6A-9FF3BFAF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8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AC0E-A3E3-EC82-08C4-711F21B5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F6A4D-0146-0D8C-C5A4-24AFC836E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BFF98-F966-3D28-1105-7DFE5E9C9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4384D-8344-6F16-3FFD-80D33829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414A7-4D7B-4338-CBC8-051B39BA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2E639-C0F7-3B51-5221-2B8F259E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4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E26A-8A5E-56F6-1418-9413BFCB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307E3-7EC7-684B-5E26-006AAD33D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43D69-F8D7-A4D8-429C-81AC3F4ED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15FA2-78BF-CFFF-9D21-F1D61EF14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5DAB1-B225-25A4-B97E-BC561071F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78511-56F2-22C6-4A20-72414CE4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13595-EB82-AE89-DF7B-037FB4A3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ECEEC-3726-C94C-E1A4-40D9BEDA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9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1E21-F095-739A-5725-6E948257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BF9B4-E248-77D2-FE3B-CBFC9DBC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A9AB9-28C5-B809-5E90-D9058765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7A05-8FFA-B984-FA44-06A9E083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9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FBCC2-4D32-7B31-F5C4-2142A696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4B2F6-2A69-E560-DC03-8117A926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8EE93-1FD3-4D45-B552-97607E3B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8AAE-F030-C8AA-1B2D-FC2BF12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1A83-1A6D-CBB8-B04D-7FDFFC204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FE951-29CF-7129-D31A-2EC0D41C3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70255-1C28-EBCF-6B5E-DA8C89202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89DF2-A571-F53E-B8AF-A2E8E344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54F75-9577-980A-CA5F-01DD0887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3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DC74-A3DB-8026-2926-BA9A41FE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A31A8-0210-E5CD-4AE4-DD53EB001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5EF35-5C6A-6B94-C29D-6AE273FBD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A658-746F-D4B6-3B8D-28BC6E13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3D801-ACF1-AA17-3624-4DE3B457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D258D-1A9B-034C-3CA7-D2A2EC45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0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23E1-F4A0-794A-DEBB-F49A05DD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E212A-0BDE-D938-CA6B-71B0FCA3A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893CD-F2E5-CCDA-1EBD-6A519D03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72730-2BB2-3522-5934-19022CE9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F09BC-CC33-A502-6BCF-A5148449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3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83D2A-C3F1-2AB4-E5B6-0BDFA9500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ADB98-8FCD-DDDA-574C-2AEB2B640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48E3-CF11-4677-14F9-68A0B289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8574-1A51-F7D0-77DB-526987B7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DBE1-122F-163E-7266-EFB4DE85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1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819F4-FAC6-0F43-ADB1-3545F606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CB8B3-AD2B-A705-CDA9-4F684991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35523-FB4A-E60A-3DB0-0033132FF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AF99B-F8A2-4755-BD8D-060783C2A7A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6FCA-F505-EC1C-4139-A3CBFFCB3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8E2B2-A590-BE72-896B-3502C6812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60E43-7F9F-49E6-8B37-362AB4C3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3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11E9D-529C-490E-9637-B03A3BD8F2BE}"/>
              </a:ext>
            </a:extLst>
          </p:cNvPr>
          <p:cNvSpPr txBox="1"/>
          <p:nvPr/>
        </p:nvSpPr>
        <p:spPr>
          <a:xfrm>
            <a:off x="898398" y="512261"/>
            <a:ext cx="42345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🎨 ẢNH GỐC (16-bit)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🌀 GAUSSIAN BLUR</a:t>
            </a:r>
          </a:p>
          <a:p>
            <a:r>
              <a:rPr lang="en-US" dirty="0"/>
              <a:t>    (σ=2.0, kernel=9×9)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📊 LOCAL VARIANCE</a:t>
            </a:r>
          </a:p>
          <a:p>
            <a:r>
              <a:rPr lang="en-US" dirty="0"/>
              <a:t>    (r=20, kernel=41×41)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⚡ THRESHOLD AUTO</a:t>
            </a:r>
          </a:p>
          <a:p>
            <a:r>
              <a:rPr lang="en-US" dirty="0"/>
              <a:t>    (4 × mean variance)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🎭 MORPHOLOGY OPEN</a:t>
            </a:r>
          </a:p>
          <a:p>
            <a:r>
              <a:rPr lang="en-US" dirty="0"/>
              <a:t>    (5×5 kernel)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🎯 FIND CONTOURS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🚫 FILTER BORDERS</a:t>
            </a:r>
          </a:p>
          <a:p>
            <a:r>
              <a:rPr lang="en-US" dirty="0"/>
              <a:t>    (Left: 200px, Others: 50px)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    🔍 BUBBLE CANDIDATES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A048AF-4658-5184-10C1-BE13B224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750" y="356812"/>
            <a:ext cx="1784794" cy="13793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7FC7BA-90A4-49A7-F629-2A57016B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627" y="356812"/>
            <a:ext cx="1998497" cy="1379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748B61-82A8-0944-A9BA-32EDFD6E7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313" y="1946523"/>
            <a:ext cx="1972115" cy="11630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54465A-C23D-E943-61D4-8147D7286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573" y="1825789"/>
            <a:ext cx="2374281" cy="15026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3DC431-B3E2-E179-B4B1-EF75733DCFA0}"/>
              </a:ext>
            </a:extLst>
          </p:cNvPr>
          <p:cNvSpPr txBox="1"/>
          <p:nvPr/>
        </p:nvSpPr>
        <p:spPr>
          <a:xfrm>
            <a:off x="3865611" y="3600707"/>
            <a:ext cx="5317924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░░░░░░░░░░░░░░░░░░░░░░░░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░░░░░░░░░░░░░░░░░░░░░░░░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░░░░░░░░░░░░░░░░░░░░░░░░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░░░░░░░░▓▓▓▓▓▓░░░░░░░░░░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░░░░░░░▓▓▓▓▓▓▓▓░░░░░░░░░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░░░░░░░▓▓▓▓▓▓▓▓░░░░░░░░░  ←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Vết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ố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lớn</a:t>
            </a:r>
            <a:endParaRPr lang="en-US" sz="12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░░░░░░░░▓▓▓▓▓▓░░░░░░░░░░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░░░░░░░░░░░░░░░░░░░░░░░░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░░░░░∙░░░░░░░░░░∙░░░░░░░  ←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Nhiễu</a:t>
            </a: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dirty="0" err="1">
                <a:solidFill>
                  <a:srgbClr val="0F1115"/>
                </a:solidFill>
                <a:effectLst/>
                <a:latin typeface="Menlo"/>
              </a:rPr>
              <a:t>nhỏ</a:t>
            </a:r>
            <a:endParaRPr lang="en-US" sz="12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░░░░░░░∙∙░░░░∙∙░░░░░░░░░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200" b="0" dirty="0">
                <a:solidFill>
                  <a:srgbClr val="0F1115"/>
                </a:solidFill>
                <a:effectLst/>
                <a:latin typeface="Menlo"/>
              </a:rPr>
              <a:t>    ░░░░░░░░░░░░░░░░░░░░░░░░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3153E2-F474-ACD2-EB2A-D2724B767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249" y="2859419"/>
            <a:ext cx="7173326" cy="16575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C1529-51BB-E082-44C7-CE55529C08A8}"/>
              </a:ext>
            </a:extLst>
          </p:cNvPr>
          <p:cNvSpPr txBox="1"/>
          <p:nvPr/>
        </p:nvSpPr>
        <p:spPr>
          <a:xfrm>
            <a:off x="-969955" y="-14245204"/>
            <a:ext cx="6204204" cy="22867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1. </a:t>
            </a:r>
            <a:r>
              <a:rPr lang="en-US" sz="1000" dirty="0" err="1"/>
              <a:t>Tiền</a:t>
            </a:r>
            <a:r>
              <a:rPr lang="en-US" sz="1000" dirty="0"/>
              <a:t> </a:t>
            </a:r>
            <a:r>
              <a:rPr lang="en-US" sz="1000" dirty="0" err="1"/>
              <a:t>xử</a:t>
            </a:r>
            <a:r>
              <a:rPr lang="en-US" sz="1000" dirty="0"/>
              <a:t> </a:t>
            </a:r>
            <a:r>
              <a:rPr lang="en-US" sz="1000" dirty="0" err="1"/>
              <a:t>lý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# Gaussian blur </a:t>
            </a:r>
            <a:r>
              <a:rPr lang="en-US" sz="1000" dirty="0" err="1"/>
              <a:t>để</a:t>
            </a:r>
            <a:r>
              <a:rPr lang="en-US" sz="1000" dirty="0"/>
              <a:t> </a:t>
            </a:r>
            <a:r>
              <a:rPr lang="en-US" sz="1000" dirty="0" err="1"/>
              <a:t>giảm</a:t>
            </a:r>
            <a:r>
              <a:rPr lang="en-US" sz="1000" dirty="0"/>
              <a:t> noise</a:t>
            </a:r>
          </a:p>
          <a:p>
            <a:r>
              <a:rPr lang="en-US" sz="1000" dirty="0"/>
              <a:t>sigma = 2.0</a:t>
            </a:r>
          </a:p>
          <a:p>
            <a:r>
              <a:rPr lang="en-US" sz="1000" dirty="0" err="1"/>
              <a:t>kernel_size</a:t>
            </a:r>
            <a:r>
              <a:rPr lang="en-US" sz="1000" dirty="0"/>
              <a:t> = int(2 * </a:t>
            </a:r>
            <a:r>
              <a:rPr lang="en-US" sz="1000" dirty="0" err="1"/>
              <a:t>np.ceil</a:t>
            </a:r>
            <a:r>
              <a:rPr lang="en-US" sz="1000" dirty="0"/>
              <a:t>(2 * sigma) + 1)</a:t>
            </a:r>
          </a:p>
          <a:p>
            <a:r>
              <a:rPr lang="en-US" sz="1000" dirty="0" err="1"/>
              <a:t>img</a:t>
            </a:r>
            <a:r>
              <a:rPr lang="en-US" sz="1000" dirty="0"/>
              <a:t> = cv2.GaussianBlur(</a:t>
            </a:r>
            <a:r>
              <a:rPr lang="en-US" sz="1000" dirty="0" err="1"/>
              <a:t>img</a:t>
            </a:r>
            <a:r>
              <a:rPr lang="en-US" sz="1000" dirty="0"/>
              <a:t>, (</a:t>
            </a:r>
            <a:r>
              <a:rPr lang="en-US" sz="1000" dirty="0" err="1"/>
              <a:t>kernel_size</a:t>
            </a:r>
            <a:r>
              <a:rPr lang="en-US" sz="1000" dirty="0"/>
              <a:t>, </a:t>
            </a:r>
            <a:r>
              <a:rPr lang="en-US" sz="1000" dirty="0" err="1"/>
              <a:t>kernel_size</a:t>
            </a:r>
            <a:r>
              <a:rPr lang="en-US" sz="1000" dirty="0"/>
              <a:t>), sigma)</a:t>
            </a:r>
          </a:p>
          <a:p>
            <a:r>
              <a:rPr lang="en-US" sz="1000" dirty="0"/>
              <a:t>2. </a:t>
            </a:r>
            <a:r>
              <a:rPr lang="en-US" sz="1000" dirty="0" err="1"/>
              <a:t>Tính</a:t>
            </a:r>
            <a:r>
              <a:rPr lang="en-US" sz="1000" dirty="0"/>
              <a:t> Local Variance - Core algorithm</a:t>
            </a:r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local_variance_filter</a:t>
            </a:r>
            <a:r>
              <a:rPr lang="en-US" sz="1000" dirty="0"/>
              <a:t>(image, r=20):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kernel_size</a:t>
            </a:r>
            <a:r>
              <a:rPr lang="en-US" sz="1000" dirty="0"/>
              <a:t> = 2 * r + 1  # 41x41 pixels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img_float</a:t>
            </a:r>
            <a:r>
              <a:rPr lang="en-US" sz="1000" dirty="0"/>
              <a:t> = </a:t>
            </a:r>
            <a:r>
              <a:rPr lang="en-US" sz="1000" dirty="0" err="1"/>
              <a:t>image.astype</a:t>
            </a:r>
            <a:r>
              <a:rPr lang="en-US" sz="1000" dirty="0"/>
              <a:t>(np.float32)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# E[X] - </a:t>
            </a:r>
            <a:r>
              <a:rPr lang="en-US" sz="1000" dirty="0" err="1"/>
              <a:t>Kỳ</a:t>
            </a:r>
            <a:r>
              <a:rPr lang="en-US" sz="1000" dirty="0"/>
              <a:t> </a:t>
            </a:r>
            <a:r>
              <a:rPr lang="en-US" sz="1000" dirty="0" err="1"/>
              <a:t>vọng</a:t>
            </a:r>
            <a:r>
              <a:rPr lang="en-US" sz="1000" dirty="0"/>
              <a:t> (mean)</a:t>
            </a:r>
          </a:p>
          <a:p>
            <a:r>
              <a:rPr lang="en-US" sz="1000" dirty="0"/>
              <a:t>    mean = cv2.blur(</a:t>
            </a:r>
            <a:r>
              <a:rPr lang="en-US" sz="1000" dirty="0" err="1"/>
              <a:t>img_float</a:t>
            </a:r>
            <a:r>
              <a:rPr lang="en-US" sz="1000" dirty="0"/>
              <a:t>, (</a:t>
            </a:r>
            <a:r>
              <a:rPr lang="en-US" sz="1000" dirty="0" err="1"/>
              <a:t>kernel_size</a:t>
            </a:r>
            <a:r>
              <a:rPr lang="en-US" sz="1000" dirty="0"/>
              <a:t>, </a:t>
            </a:r>
            <a:r>
              <a:rPr lang="en-US" sz="1000" dirty="0" err="1"/>
              <a:t>kernel_size</a:t>
            </a:r>
            <a:r>
              <a:rPr lang="en-US" sz="1000" dirty="0"/>
              <a:t>))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# E[X²] - </a:t>
            </a:r>
            <a:r>
              <a:rPr lang="en-US" sz="1000" dirty="0" err="1"/>
              <a:t>Kỳ</a:t>
            </a:r>
            <a:r>
              <a:rPr lang="en-US" sz="1000" dirty="0"/>
              <a:t> </a:t>
            </a:r>
            <a:r>
              <a:rPr lang="en-US" sz="1000" dirty="0" err="1"/>
              <a:t>vọng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</a:t>
            </a:r>
            <a:r>
              <a:rPr lang="en-US" sz="1000" dirty="0" err="1"/>
              <a:t>bình</a:t>
            </a:r>
            <a:r>
              <a:rPr lang="en-US" sz="1000" dirty="0"/>
              <a:t> </a:t>
            </a:r>
            <a:r>
              <a:rPr lang="en-US" sz="1000" dirty="0" err="1"/>
              <a:t>phương</a:t>
            </a:r>
            <a:endParaRPr lang="en-US" sz="1000" dirty="0"/>
          </a:p>
          <a:p>
            <a:r>
              <a:rPr lang="en-US" sz="1000" dirty="0"/>
              <a:t>    </a:t>
            </a:r>
            <a:r>
              <a:rPr lang="en-US" sz="1000" dirty="0" err="1"/>
              <a:t>mean_sq</a:t>
            </a:r>
            <a:r>
              <a:rPr lang="en-US" sz="1000" dirty="0"/>
              <a:t> = cv2.blur(</a:t>
            </a:r>
            <a:r>
              <a:rPr lang="en-US" sz="1000" dirty="0" err="1"/>
              <a:t>img_float</a:t>
            </a:r>
            <a:r>
              <a:rPr lang="en-US" sz="1000" dirty="0"/>
              <a:t>**2, (</a:t>
            </a:r>
            <a:r>
              <a:rPr lang="en-US" sz="1000" dirty="0" err="1"/>
              <a:t>kernel_size</a:t>
            </a:r>
            <a:r>
              <a:rPr lang="en-US" sz="1000" dirty="0"/>
              <a:t>, </a:t>
            </a:r>
            <a:r>
              <a:rPr lang="en-US" sz="1000" dirty="0" err="1"/>
              <a:t>kernel_size</a:t>
            </a:r>
            <a:r>
              <a:rPr lang="en-US" sz="1000" dirty="0"/>
              <a:t>))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# Var(X) = E[X²] - (E[X])²</a:t>
            </a:r>
          </a:p>
          <a:p>
            <a:r>
              <a:rPr lang="en-US" sz="1000" dirty="0"/>
              <a:t>    variance = </a:t>
            </a:r>
            <a:r>
              <a:rPr lang="en-US" sz="1000" dirty="0" err="1"/>
              <a:t>mean_sq</a:t>
            </a:r>
            <a:r>
              <a:rPr lang="en-US" sz="1000" dirty="0"/>
              <a:t> - mean**2</a:t>
            </a:r>
          </a:p>
          <a:p>
            <a:endParaRPr lang="en-US" sz="1000" dirty="0"/>
          </a:p>
          <a:p>
            <a:r>
              <a:rPr lang="en-US" sz="1000" dirty="0"/>
              <a:t>Nguyên </a:t>
            </a:r>
            <a:r>
              <a:rPr lang="en-US" sz="1000" dirty="0" err="1"/>
              <a:t>lý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Vùng</a:t>
            </a:r>
            <a:r>
              <a:rPr lang="en-US" sz="1000" dirty="0"/>
              <a:t> </a:t>
            </a:r>
            <a:r>
              <a:rPr lang="en-US" sz="1000" dirty="0" err="1"/>
              <a:t>có</a:t>
            </a:r>
            <a:r>
              <a:rPr lang="en-US" sz="1000" dirty="0"/>
              <a:t> bubble </a:t>
            </a:r>
            <a:r>
              <a:rPr lang="en-US" sz="1000" dirty="0" err="1"/>
              <a:t>sẽ</a:t>
            </a:r>
            <a:r>
              <a:rPr lang="en-US" sz="1000" dirty="0"/>
              <a:t> </a:t>
            </a:r>
            <a:r>
              <a:rPr lang="en-US" sz="1000" dirty="0" err="1"/>
              <a:t>có</a:t>
            </a:r>
            <a:r>
              <a:rPr lang="en-US" sz="1000" dirty="0"/>
              <a:t> </a:t>
            </a:r>
            <a:r>
              <a:rPr lang="en-US" sz="1000" dirty="0" err="1"/>
              <a:t>độ</a:t>
            </a:r>
            <a:r>
              <a:rPr lang="en-US" sz="1000" dirty="0"/>
              <a:t> </a:t>
            </a:r>
            <a:r>
              <a:rPr lang="en-US" sz="1000" dirty="0" err="1"/>
              <a:t>tương</a:t>
            </a:r>
            <a:r>
              <a:rPr lang="en-US" sz="1000" dirty="0"/>
              <a:t> </a:t>
            </a:r>
            <a:r>
              <a:rPr lang="en-US" sz="1000" dirty="0" err="1"/>
              <a:t>phản</a:t>
            </a:r>
            <a:r>
              <a:rPr lang="en-US" sz="1000" dirty="0"/>
              <a:t> </a:t>
            </a:r>
            <a:r>
              <a:rPr lang="en-US" sz="1000" dirty="0" err="1"/>
              <a:t>cao</a:t>
            </a:r>
            <a:r>
              <a:rPr lang="en-US" sz="1000" dirty="0"/>
              <a:t> → variance </a:t>
            </a:r>
            <a:r>
              <a:rPr lang="en-US" sz="1000" dirty="0" err="1"/>
              <a:t>cao</a:t>
            </a:r>
            <a:endParaRPr lang="en-US" sz="1000" dirty="0"/>
          </a:p>
          <a:p>
            <a:r>
              <a:rPr lang="en-US" sz="1000" dirty="0" err="1"/>
              <a:t>Vùng</a:t>
            </a:r>
            <a:r>
              <a:rPr lang="en-US" sz="1000" dirty="0"/>
              <a:t> </a:t>
            </a:r>
            <a:r>
              <a:rPr lang="en-US" sz="1000" dirty="0" err="1"/>
              <a:t>nền</a:t>
            </a:r>
            <a:r>
              <a:rPr lang="en-US" sz="1000" dirty="0"/>
              <a:t> </a:t>
            </a:r>
            <a:r>
              <a:rPr lang="en-US" sz="1000" dirty="0" err="1"/>
              <a:t>đồng</a:t>
            </a:r>
            <a:r>
              <a:rPr lang="en-US" sz="1000" dirty="0"/>
              <a:t> </a:t>
            </a:r>
            <a:r>
              <a:rPr lang="en-US" sz="1000" dirty="0" err="1"/>
              <a:t>nhất</a:t>
            </a:r>
            <a:r>
              <a:rPr lang="en-US" sz="1000" dirty="0"/>
              <a:t> </a:t>
            </a:r>
            <a:r>
              <a:rPr lang="en-US" sz="1000" dirty="0" err="1"/>
              <a:t>có</a:t>
            </a:r>
            <a:r>
              <a:rPr lang="en-US" sz="1000" dirty="0"/>
              <a:t> variance </a:t>
            </a:r>
            <a:r>
              <a:rPr lang="en-US" sz="1000" dirty="0" err="1"/>
              <a:t>thấp</a:t>
            </a:r>
            <a:endParaRPr lang="en-US" sz="1000" dirty="0"/>
          </a:p>
          <a:p>
            <a:r>
              <a:rPr lang="en-US" sz="1000" dirty="0"/>
              <a:t>Kernel size </a:t>
            </a:r>
            <a:r>
              <a:rPr lang="en-US" sz="1000" dirty="0" err="1"/>
              <a:t>lớn</a:t>
            </a:r>
            <a:r>
              <a:rPr lang="en-US" sz="1000" dirty="0"/>
              <a:t> (41x41 </a:t>
            </a:r>
            <a:r>
              <a:rPr lang="en-US" sz="1000" dirty="0" err="1"/>
              <a:t>với</a:t>
            </a:r>
            <a:r>
              <a:rPr lang="en-US" sz="1000" dirty="0"/>
              <a:t> r=20) </a:t>
            </a:r>
            <a:r>
              <a:rPr lang="en-US" sz="1000" dirty="0" err="1"/>
              <a:t>để</a:t>
            </a:r>
            <a:r>
              <a:rPr lang="en-US" sz="1000" dirty="0"/>
              <a:t> </a:t>
            </a:r>
            <a:r>
              <a:rPr lang="en-US" sz="1000" dirty="0" err="1"/>
              <a:t>phát</a:t>
            </a:r>
            <a:r>
              <a:rPr lang="en-US" sz="1000" dirty="0"/>
              <a:t> </a:t>
            </a:r>
            <a:r>
              <a:rPr lang="en-US" sz="1000" dirty="0" err="1"/>
              <a:t>hiện</a:t>
            </a:r>
            <a:r>
              <a:rPr lang="en-US" sz="1000" dirty="0"/>
              <a:t> bubble </a:t>
            </a:r>
            <a:r>
              <a:rPr lang="en-US" sz="1000" dirty="0" err="1"/>
              <a:t>lớn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3. </a:t>
            </a:r>
            <a:r>
              <a:rPr lang="en-US" sz="1000" dirty="0" err="1"/>
              <a:t>Ngưỡng</a:t>
            </a:r>
            <a:r>
              <a:rPr lang="en-US" sz="1000" dirty="0"/>
              <a:t> </a:t>
            </a:r>
            <a:r>
              <a:rPr lang="en-US" sz="1000" dirty="0" err="1"/>
              <a:t>tự</a:t>
            </a:r>
            <a:r>
              <a:rPr lang="en-US" sz="1000" dirty="0"/>
              <a:t> </a:t>
            </a:r>
            <a:r>
              <a:rPr lang="en-US" sz="1000" dirty="0" err="1"/>
              <a:t>động</a:t>
            </a:r>
            <a:r>
              <a:rPr lang="en-US" sz="1000" dirty="0"/>
              <a:t> (Adaptive Threshold)</a:t>
            </a:r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# </a:t>
            </a:r>
            <a:r>
              <a:rPr lang="en-US" sz="1000" dirty="0" err="1"/>
              <a:t>Ngưỡng</a:t>
            </a:r>
            <a:r>
              <a:rPr lang="en-US" sz="1000" dirty="0"/>
              <a:t> </a:t>
            </a:r>
            <a:r>
              <a:rPr lang="en-US" sz="1000" dirty="0" err="1"/>
              <a:t>dựa</a:t>
            </a:r>
            <a:r>
              <a:rPr lang="en-US" sz="1000" dirty="0"/>
              <a:t> </a:t>
            </a:r>
            <a:r>
              <a:rPr lang="en-US" sz="1000" dirty="0" err="1"/>
              <a:t>trên</a:t>
            </a:r>
            <a:r>
              <a:rPr lang="en-US" sz="1000" dirty="0"/>
              <a:t> mean </a:t>
            </a:r>
            <a:r>
              <a:rPr lang="en-US" sz="1000" dirty="0" err="1"/>
              <a:t>của</a:t>
            </a:r>
            <a:r>
              <a:rPr lang="en-US" sz="1000" dirty="0"/>
              <a:t> variance image</a:t>
            </a:r>
          </a:p>
          <a:p>
            <a:r>
              <a:rPr lang="en-US" sz="1000" dirty="0" err="1"/>
              <a:t>thresh_val</a:t>
            </a:r>
            <a:r>
              <a:rPr lang="en-US" sz="1000" dirty="0"/>
              <a:t> = </a:t>
            </a:r>
            <a:r>
              <a:rPr lang="en-US" sz="1000" dirty="0" err="1"/>
              <a:t>np.mean</a:t>
            </a:r>
            <a:r>
              <a:rPr lang="en-US" sz="1000" dirty="0"/>
              <a:t>(</a:t>
            </a:r>
            <a:r>
              <a:rPr lang="en-US" sz="1000" dirty="0" err="1"/>
              <a:t>var_img</a:t>
            </a:r>
            <a:r>
              <a:rPr lang="en-US" sz="1000" dirty="0"/>
              <a:t>) * </a:t>
            </a:r>
            <a:r>
              <a:rPr lang="en-US" sz="1000" dirty="0" err="1"/>
              <a:t>threshold_scale</a:t>
            </a:r>
            <a:r>
              <a:rPr lang="en-US" sz="1000" dirty="0"/>
              <a:t>  # </a:t>
            </a:r>
            <a:r>
              <a:rPr lang="en-US" sz="1000" dirty="0" err="1"/>
              <a:t>threshold_scale</a:t>
            </a:r>
            <a:r>
              <a:rPr lang="en-US" sz="1000" dirty="0"/>
              <a:t>=4.0</a:t>
            </a:r>
          </a:p>
          <a:p>
            <a:r>
              <a:rPr lang="en-US" sz="1000" dirty="0"/>
              <a:t>_, mask = cv2.threshold(</a:t>
            </a:r>
            <a:r>
              <a:rPr lang="en-US" sz="1000" dirty="0" err="1"/>
              <a:t>var_img</a:t>
            </a:r>
            <a:r>
              <a:rPr lang="en-US" sz="1000" dirty="0"/>
              <a:t>, </a:t>
            </a:r>
            <a:r>
              <a:rPr lang="en-US" sz="1000" dirty="0" err="1"/>
              <a:t>thresh_val</a:t>
            </a:r>
            <a:r>
              <a:rPr lang="en-US" sz="1000" dirty="0"/>
              <a:t>, 65535, cv2.THRESH_BINARY)</a:t>
            </a:r>
          </a:p>
          <a:p>
            <a:endParaRPr lang="en-US" sz="1000" dirty="0"/>
          </a:p>
          <a:p>
            <a:r>
              <a:rPr lang="en-US" sz="1000" dirty="0"/>
              <a:t>Mean </a:t>
            </a:r>
            <a:r>
              <a:rPr lang="en-US" sz="1000" dirty="0" err="1"/>
              <a:t>toàn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r>
              <a:rPr lang="en-US" sz="1000" dirty="0"/>
              <a:t> ≈ 150</a:t>
            </a:r>
          </a:p>
          <a:p>
            <a:r>
              <a:rPr lang="en-US" sz="1000" dirty="0" err="1"/>
              <a:t>Ngưỡng</a:t>
            </a:r>
            <a:r>
              <a:rPr lang="en-US" sz="1000" dirty="0"/>
              <a:t> = 150 × 4.0 = 600</a:t>
            </a:r>
          </a:p>
          <a:p>
            <a:r>
              <a:rPr lang="en-US" sz="1000" dirty="0"/>
              <a:t>→ </a:t>
            </a:r>
            <a:r>
              <a:rPr lang="en-US" sz="1000" dirty="0" err="1"/>
              <a:t>Chỉ</a:t>
            </a:r>
            <a:r>
              <a:rPr lang="en-US" sz="1000" dirty="0"/>
              <a:t> </a:t>
            </a:r>
            <a:r>
              <a:rPr lang="en-US" sz="1000" dirty="0" err="1"/>
              <a:t>giữ</a:t>
            </a:r>
            <a:r>
              <a:rPr lang="en-US" sz="1000" dirty="0"/>
              <a:t> </a:t>
            </a:r>
            <a:r>
              <a:rPr lang="en-US" sz="1000" dirty="0" err="1"/>
              <a:t>lại</a:t>
            </a:r>
            <a:r>
              <a:rPr lang="en-US" sz="1000" dirty="0"/>
              <a:t> pixels </a:t>
            </a:r>
            <a:r>
              <a:rPr lang="en-US" sz="1000" dirty="0" err="1"/>
              <a:t>có</a:t>
            </a:r>
            <a:r>
              <a:rPr lang="en-US" sz="1000" dirty="0"/>
              <a:t> variance &gt; 600 (bubble)</a:t>
            </a:r>
          </a:p>
          <a:p>
            <a:endParaRPr lang="en-US" sz="1000" dirty="0"/>
          </a:p>
          <a:p>
            <a:r>
              <a:rPr lang="en-US" sz="1000" dirty="0"/>
              <a:t>4. </a:t>
            </a:r>
            <a:r>
              <a:rPr lang="en-US" sz="1000" dirty="0" err="1"/>
              <a:t>Lọc</a:t>
            </a:r>
            <a:r>
              <a:rPr lang="en-US" sz="1000" dirty="0"/>
              <a:t> </a:t>
            </a:r>
            <a:r>
              <a:rPr lang="en-US" sz="1000" dirty="0" err="1"/>
              <a:t>vùng</a:t>
            </a:r>
            <a:r>
              <a:rPr lang="en-US" sz="1000" dirty="0"/>
              <a:t> </a:t>
            </a:r>
            <a:r>
              <a:rPr lang="en-US" sz="1000" dirty="0" err="1"/>
              <a:t>biên</a:t>
            </a:r>
            <a:r>
              <a:rPr lang="en-US" sz="1000" dirty="0"/>
              <a:t> </a:t>
            </a:r>
            <a:r>
              <a:rPr lang="en-US" sz="1000" dirty="0" err="1"/>
              <a:t>và</a:t>
            </a:r>
            <a:r>
              <a:rPr lang="en-US" sz="1000" dirty="0"/>
              <a:t> </a:t>
            </a:r>
            <a:r>
              <a:rPr lang="en-US" sz="1000" dirty="0" err="1"/>
              <a:t>góc</a:t>
            </a:r>
            <a:r>
              <a:rPr lang="en-US" sz="1000" dirty="0"/>
              <a:t> </a:t>
            </a:r>
            <a:r>
              <a:rPr lang="en-US" sz="1000" dirty="0" err="1"/>
              <a:t>bo</a:t>
            </a:r>
            <a:endParaRPr lang="en-US" sz="1000" dirty="0"/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# </a:t>
            </a:r>
            <a:r>
              <a:rPr lang="en-US" sz="1000" dirty="0" err="1"/>
              <a:t>Loại</a:t>
            </a:r>
            <a:r>
              <a:rPr lang="en-US" sz="1000" dirty="0"/>
              <a:t> </a:t>
            </a:r>
            <a:r>
              <a:rPr lang="en-US" sz="1000" dirty="0" err="1"/>
              <a:t>bỏ</a:t>
            </a:r>
            <a:r>
              <a:rPr lang="en-US" sz="1000" dirty="0"/>
              <a:t> bubble </a:t>
            </a:r>
            <a:r>
              <a:rPr lang="en-US" sz="1000" dirty="0" err="1"/>
              <a:t>gần</a:t>
            </a:r>
            <a:r>
              <a:rPr lang="en-US" sz="1000" dirty="0"/>
              <a:t> </a:t>
            </a:r>
            <a:r>
              <a:rPr lang="en-US" sz="1000" dirty="0" err="1"/>
              <a:t>biên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 err="1"/>
              <a:t>left_border_threshold</a:t>
            </a:r>
            <a:r>
              <a:rPr lang="en-US" sz="1000" dirty="0"/>
              <a:t> = 200   # </a:t>
            </a:r>
            <a:r>
              <a:rPr lang="en-US" sz="1000" dirty="0" err="1"/>
              <a:t>Biên</a:t>
            </a:r>
            <a:r>
              <a:rPr lang="en-US" sz="1000" dirty="0"/>
              <a:t> </a:t>
            </a:r>
            <a:r>
              <a:rPr lang="en-US" sz="1000" dirty="0" err="1"/>
              <a:t>trái</a:t>
            </a:r>
            <a:r>
              <a:rPr lang="en-US" sz="1000" dirty="0"/>
              <a:t> 200px</a:t>
            </a:r>
          </a:p>
          <a:p>
            <a:r>
              <a:rPr lang="en-US" sz="1000" dirty="0" err="1"/>
              <a:t>other_border_threshold</a:t>
            </a:r>
            <a:r>
              <a:rPr lang="en-US" sz="1000" dirty="0"/>
              <a:t> = 50   # Các </a:t>
            </a:r>
            <a:r>
              <a:rPr lang="en-US" sz="1000" dirty="0" err="1"/>
              <a:t>biên</a:t>
            </a:r>
            <a:r>
              <a:rPr lang="en-US" sz="1000" dirty="0"/>
              <a:t> </a:t>
            </a:r>
            <a:r>
              <a:rPr lang="en-US" sz="1000" dirty="0" err="1"/>
              <a:t>khác</a:t>
            </a:r>
            <a:r>
              <a:rPr lang="en-US" sz="1000" dirty="0"/>
              <a:t> 50px</a:t>
            </a:r>
          </a:p>
          <a:p>
            <a:r>
              <a:rPr lang="en-US" sz="1000" dirty="0" err="1"/>
              <a:t>corner_radius</a:t>
            </a:r>
            <a:r>
              <a:rPr lang="en-US" sz="1000" dirty="0"/>
              <a:t> = 50           # Bo </a:t>
            </a:r>
            <a:r>
              <a:rPr lang="en-US" sz="1000" dirty="0" err="1"/>
              <a:t>góc</a:t>
            </a:r>
            <a:r>
              <a:rPr lang="en-US" sz="1000" dirty="0"/>
              <a:t> 50px</a:t>
            </a:r>
          </a:p>
          <a:p>
            <a:endParaRPr lang="en-US" sz="1000" dirty="0"/>
          </a:p>
          <a:p>
            <a:r>
              <a:rPr lang="en-US" sz="1000" dirty="0" err="1"/>
              <a:t>Thuật</a:t>
            </a:r>
            <a:r>
              <a:rPr lang="en-US" sz="1000" dirty="0"/>
              <a:t> </a:t>
            </a:r>
            <a:r>
              <a:rPr lang="en-US" sz="1000" dirty="0" err="1"/>
              <a:t>toán</a:t>
            </a:r>
            <a:r>
              <a:rPr lang="en-US" sz="1000" dirty="0"/>
              <a:t> </a:t>
            </a:r>
            <a:r>
              <a:rPr lang="en-US" sz="1000" dirty="0" err="1"/>
              <a:t>tìm</a:t>
            </a:r>
            <a:r>
              <a:rPr lang="en-US" sz="1000" dirty="0"/>
              <a:t> bubble </a:t>
            </a:r>
            <a:r>
              <a:rPr lang="en-US" sz="1000" dirty="0" err="1"/>
              <a:t>chung</a:t>
            </a:r>
            <a:r>
              <a:rPr lang="en-US" sz="1000" dirty="0"/>
              <a:t> (Common Bubbles)</a:t>
            </a:r>
          </a:p>
          <a:p>
            <a:r>
              <a:rPr lang="en-US" sz="1000" dirty="0"/>
              <a:t>1. </a:t>
            </a:r>
            <a:r>
              <a:rPr lang="en-US" sz="1000" dirty="0" err="1"/>
              <a:t>Phân</a:t>
            </a:r>
            <a:r>
              <a:rPr lang="en-US" sz="1000" dirty="0"/>
              <a:t> </a:t>
            </a:r>
            <a:r>
              <a:rPr lang="en-US" sz="1000" dirty="0" err="1"/>
              <a:t>nhóm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r>
              <a:rPr lang="en-US" sz="1000" dirty="0"/>
              <a:t> </a:t>
            </a:r>
            <a:r>
              <a:rPr lang="en-US" sz="1000" dirty="0" err="1"/>
              <a:t>theo</a:t>
            </a:r>
            <a:r>
              <a:rPr lang="en-US" sz="1000" dirty="0"/>
              <a:t> pattern</a:t>
            </a:r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# </a:t>
            </a:r>
            <a:r>
              <a:rPr lang="en-US" sz="1000" dirty="0" err="1"/>
              <a:t>Chỉ</a:t>
            </a:r>
            <a:r>
              <a:rPr lang="en-US" sz="1000" dirty="0"/>
              <a:t> </a:t>
            </a:r>
            <a:r>
              <a:rPr lang="en-US" sz="1000" dirty="0" err="1"/>
              <a:t>xử</a:t>
            </a:r>
            <a:r>
              <a:rPr lang="en-US" sz="1000" dirty="0"/>
              <a:t> </a:t>
            </a:r>
            <a:r>
              <a:rPr lang="en-US" sz="1000" dirty="0" err="1"/>
              <a:t>lý</a:t>
            </a:r>
            <a:r>
              <a:rPr lang="en-US" sz="1000" dirty="0"/>
              <a:t> pattern </a:t>
            </a:r>
            <a:r>
              <a:rPr lang="en-US" sz="1000" dirty="0" err="1"/>
              <a:t>có</a:t>
            </a:r>
            <a:r>
              <a:rPr lang="en-US" sz="1000" dirty="0"/>
              <a:t> </a:t>
            </a:r>
            <a:r>
              <a:rPr lang="en-US" sz="1000" dirty="0" err="1"/>
              <a:t>dạng</a:t>
            </a:r>
            <a:r>
              <a:rPr lang="en-US" sz="1000" dirty="0"/>
              <a:t>: step01_100NIT_R192, step02_150NIT_W216, etc.</a:t>
            </a:r>
          </a:p>
          <a:p>
            <a:r>
              <a:rPr lang="en-US" sz="1000" dirty="0" err="1"/>
              <a:t>pattern_match</a:t>
            </a:r>
            <a:r>
              <a:rPr lang="en-US" sz="1000" dirty="0"/>
              <a:t> = </a:t>
            </a:r>
            <a:r>
              <a:rPr lang="en-US" sz="1000" dirty="0" err="1"/>
              <a:t>re.search</a:t>
            </a:r>
            <a:r>
              <a:rPr lang="en-US" sz="1000" dirty="0"/>
              <a:t>(r'step0[1-9]_\</a:t>
            </a:r>
            <a:r>
              <a:rPr lang="en-US" sz="1000" dirty="0" err="1"/>
              <a:t>d+NIT</a:t>
            </a:r>
            <a:r>
              <a:rPr lang="en-US" sz="1000" dirty="0"/>
              <a:t>_[RGBW](192|216)', </a:t>
            </a:r>
            <a:r>
              <a:rPr lang="en-US" sz="1000" dirty="0" err="1"/>
              <a:t>file_name</a:t>
            </a:r>
            <a:r>
              <a:rPr lang="en-US" sz="1000" dirty="0"/>
              <a:t>)</a:t>
            </a:r>
          </a:p>
          <a:p>
            <a:r>
              <a:rPr lang="en-US" sz="1000" dirty="0"/>
              <a:t>2. So </a:t>
            </a:r>
            <a:r>
              <a:rPr lang="en-US" sz="1000" dirty="0" err="1"/>
              <a:t>khớp</a:t>
            </a:r>
            <a:r>
              <a:rPr lang="en-US" sz="1000" dirty="0"/>
              <a:t> bubble </a:t>
            </a:r>
            <a:r>
              <a:rPr lang="en-US" sz="1000" dirty="0" err="1"/>
              <a:t>giữa</a:t>
            </a:r>
            <a:r>
              <a:rPr lang="en-US" sz="1000" dirty="0"/>
              <a:t> </a:t>
            </a:r>
            <a:r>
              <a:rPr lang="en-US" sz="1000" dirty="0" err="1"/>
              <a:t>các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are_centers_close</a:t>
            </a:r>
            <a:r>
              <a:rPr lang="en-US" sz="1000" dirty="0"/>
              <a:t>(bbox1, bbox2, tolerance=50):</a:t>
            </a:r>
          </a:p>
          <a:p>
            <a:r>
              <a:rPr lang="en-US" sz="1000" dirty="0"/>
              <a:t>    # </a:t>
            </a:r>
            <a:r>
              <a:rPr lang="en-US" sz="1000" dirty="0" err="1"/>
              <a:t>Tính</a:t>
            </a:r>
            <a:r>
              <a:rPr lang="en-US" sz="1000" dirty="0"/>
              <a:t> </a:t>
            </a:r>
            <a:r>
              <a:rPr lang="en-US" sz="1000" dirty="0" err="1"/>
              <a:t>khoảng</a:t>
            </a:r>
            <a:r>
              <a:rPr lang="en-US" sz="1000" dirty="0"/>
              <a:t> </a:t>
            </a:r>
            <a:r>
              <a:rPr lang="en-US" sz="1000" dirty="0" err="1"/>
              <a:t>cách</a:t>
            </a:r>
            <a:r>
              <a:rPr lang="en-US" sz="1000" dirty="0"/>
              <a:t> </a:t>
            </a:r>
            <a:r>
              <a:rPr lang="en-US" sz="1000" dirty="0" err="1"/>
              <a:t>giữa</a:t>
            </a:r>
            <a:r>
              <a:rPr lang="en-US" sz="1000" dirty="0"/>
              <a:t> </a:t>
            </a:r>
            <a:r>
              <a:rPr lang="en-US" sz="1000" dirty="0" err="1"/>
              <a:t>tâm</a:t>
            </a:r>
            <a:r>
              <a:rPr lang="en-US" sz="1000" dirty="0"/>
              <a:t> 2 bounding box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distance = </a:t>
            </a:r>
            <a:r>
              <a:rPr lang="en-US" sz="1000" dirty="0" err="1"/>
              <a:t>np.sqrt</a:t>
            </a:r>
            <a:r>
              <a:rPr lang="en-US" sz="1000" dirty="0"/>
              <a:t>((center_x1 - center_x2)**2 + (center_y1 - center_y2)**2)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# </a:t>
            </a:r>
            <a:r>
              <a:rPr lang="en-US" sz="1000" dirty="0" err="1"/>
              <a:t>Hoặc</a:t>
            </a:r>
            <a:r>
              <a:rPr lang="en-US" sz="1000" dirty="0"/>
              <a:t> </a:t>
            </a:r>
            <a:r>
              <a:rPr lang="en-US" sz="1000" dirty="0" err="1"/>
              <a:t>có</a:t>
            </a:r>
            <a:r>
              <a:rPr lang="en-US" sz="1000" dirty="0"/>
              <a:t> overlap </a:t>
            </a:r>
            <a:r>
              <a:rPr lang="en-US" sz="1000" dirty="0" err="1"/>
              <a:t>giữa</a:t>
            </a:r>
            <a:r>
              <a:rPr lang="en-US" sz="1000" dirty="0"/>
              <a:t> 2 bounding box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overlap_x</a:t>
            </a:r>
            <a:r>
              <a:rPr lang="en-US" sz="1000" dirty="0"/>
              <a:t> = max(0, min(right1, right2) - max(left1, left2))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overlap_y</a:t>
            </a:r>
            <a:r>
              <a:rPr lang="en-US" sz="1000" dirty="0"/>
              <a:t> = max(0, min(bottom1, bottom2) - max(top1, top2))</a:t>
            </a:r>
          </a:p>
          <a:p>
            <a:r>
              <a:rPr lang="en-US" sz="1000" dirty="0"/>
              <a:t>    </a:t>
            </a:r>
          </a:p>
          <a:p>
            <a:r>
              <a:rPr lang="en-US" sz="1000" dirty="0"/>
              <a:t>    return distance &lt;= tolerance or (</a:t>
            </a:r>
            <a:r>
              <a:rPr lang="en-US" sz="1000" dirty="0" err="1"/>
              <a:t>overlap_x</a:t>
            </a:r>
            <a:r>
              <a:rPr lang="en-US" sz="1000" dirty="0"/>
              <a:t> &gt; 0 and </a:t>
            </a:r>
            <a:r>
              <a:rPr lang="en-US" sz="1000" dirty="0" err="1"/>
              <a:t>overlap_y</a:t>
            </a:r>
            <a:r>
              <a:rPr lang="en-US" sz="1000" dirty="0"/>
              <a:t> &gt; 0)</a:t>
            </a:r>
          </a:p>
          <a:p>
            <a:r>
              <a:rPr lang="en-US" sz="1000" dirty="0"/>
              <a:t>3. </a:t>
            </a:r>
            <a:r>
              <a:rPr lang="en-US" sz="1000" dirty="0" err="1"/>
              <a:t>Tìm</a:t>
            </a:r>
            <a:r>
              <a:rPr lang="en-US" sz="1000" dirty="0"/>
              <a:t> bubble </a:t>
            </a:r>
            <a:r>
              <a:rPr lang="en-US" sz="1000" dirty="0" err="1"/>
              <a:t>xuất</a:t>
            </a:r>
            <a:r>
              <a:rPr lang="en-US" sz="1000" dirty="0"/>
              <a:t> </a:t>
            </a:r>
            <a:r>
              <a:rPr lang="en-US" sz="1000" dirty="0" err="1"/>
              <a:t>hiện</a:t>
            </a:r>
            <a:r>
              <a:rPr lang="en-US" sz="1000" dirty="0"/>
              <a:t> </a:t>
            </a:r>
            <a:r>
              <a:rPr lang="en-US" sz="1000" dirty="0" err="1"/>
              <a:t>trong</a:t>
            </a:r>
            <a:r>
              <a:rPr lang="en-US" sz="1000" dirty="0"/>
              <a:t> ≥3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/>
              <a:t>python</a:t>
            </a:r>
          </a:p>
          <a:p>
            <a:r>
              <a:rPr lang="en-US" sz="1000" dirty="0"/>
              <a:t># </a:t>
            </a:r>
            <a:r>
              <a:rPr lang="en-US" sz="1000" dirty="0" err="1"/>
              <a:t>Duyệt</a:t>
            </a:r>
            <a:r>
              <a:rPr lang="en-US" sz="1000" dirty="0"/>
              <a:t> qua </a:t>
            </a:r>
            <a:r>
              <a:rPr lang="en-US" sz="1000" dirty="0" err="1"/>
              <a:t>tất</a:t>
            </a:r>
            <a:r>
              <a:rPr lang="en-US" sz="1000" dirty="0"/>
              <a:t> </a:t>
            </a:r>
            <a:r>
              <a:rPr lang="en-US" sz="1000" dirty="0" err="1"/>
              <a:t>cả</a:t>
            </a:r>
            <a:r>
              <a:rPr lang="en-US" sz="1000" dirty="0"/>
              <a:t> bubble </a:t>
            </a:r>
            <a:r>
              <a:rPr lang="en-US" sz="1000" dirty="0" err="1"/>
              <a:t>trong</a:t>
            </a:r>
            <a:r>
              <a:rPr lang="en-US" sz="1000" dirty="0"/>
              <a:t> </a:t>
            </a:r>
            <a:r>
              <a:rPr lang="en-US" sz="1000" dirty="0" err="1"/>
              <a:t>nhóm</a:t>
            </a:r>
            <a:r>
              <a:rPr lang="en-US" sz="1000" dirty="0"/>
              <a:t>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/>
              <a:t>        # Bubble </a:t>
            </a:r>
            <a:r>
              <a:rPr lang="en-US" sz="1000" dirty="0" err="1"/>
              <a:t>chung</a:t>
            </a:r>
            <a:r>
              <a:rPr lang="en-US" sz="1000" dirty="0"/>
              <a:t> </a:t>
            </a:r>
            <a:r>
              <a:rPr lang="en-US" sz="1000" dirty="0" err="1"/>
              <a:t>nếu</a:t>
            </a:r>
            <a:r>
              <a:rPr lang="en-US" sz="1000" dirty="0"/>
              <a:t> </a:t>
            </a:r>
            <a:r>
              <a:rPr lang="en-US" sz="1000" dirty="0" err="1"/>
              <a:t>xuất</a:t>
            </a:r>
            <a:r>
              <a:rPr lang="en-US" sz="1000" dirty="0"/>
              <a:t> </a:t>
            </a:r>
            <a:r>
              <a:rPr lang="en-US" sz="1000" dirty="0" err="1"/>
              <a:t>hiện</a:t>
            </a:r>
            <a:r>
              <a:rPr lang="en-US" sz="1000" dirty="0"/>
              <a:t> </a:t>
            </a:r>
            <a:r>
              <a:rPr lang="en-US" sz="1000" dirty="0" err="1"/>
              <a:t>trong</a:t>
            </a:r>
            <a:r>
              <a:rPr lang="en-US" sz="1000" dirty="0"/>
              <a:t> ≥3 </a:t>
            </a:r>
            <a:r>
              <a:rPr lang="en-US" sz="1000" dirty="0" err="1"/>
              <a:t>ảnh</a:t>
            </a:r>
            <a:endParaRPr lang="en-US" sz="1000" dirty="0"/>
          </a:p>
          <a:p>
            <a:r>
              <a:rPr lang="en-US" sz="1000" dirty="0"/>
              <a:t>        if </a:t>
            </a:r>
            <a:r>
              <a:rPr lang="en-US" sz="1000" dirty="0" err="1"/>
              <a:t>common_bubble_count</a:t>
            </a:r>
            <a:r>
              <a:rPr lang="en-US" sz="1000" dirty="0"/>
              <a:t> &gt;= 3:</a:t>
            </a:r>
          </a:p>
          <a:p>
            <a:r>
              <a:rPr lang="en-US" sz="1000" dirty="0"/>
              <a:t>            # </a:t>
            </a:r>
            <a:r>
              <a:rPr lang="en-US" sz="1000" dirty="0" err="1"/>
              <a:t>Ghi</a:t>
            </a:r>
            <a:r>
              <a:rPr lang="en-US" sz="1000" dirty="0"/>
              <a:t> </a:t>
            </a:r>
            <a:r>
              <a:rPr lang="en-US" sz="1000" dirty="0" err="1"/>
              <a:t>nhận</a:t>
            </a:r>
            <a:r>
              <a:rPr lang="en-US" sz="1000" dirty="0"/>
              <a:t> bubble </a:t>
            </a:r>
            <a:r>
              <a:rPr lang="en-US" sz="1000" dirty="0" err="1"/>
              <a:t>chung</a:t>
            </a:r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🎨 ẢNH GỐC (16-bit)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🌀 GAUSSIAN BLUR</a:t>
            </a:r>
          </a:p>
          <a:p>
            <a:r>
              <a:rPr lang="en-US" sz="1000" dirty="0"/>
              <a:t>    (σ=2.0, kernel=9×9)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📊 LOCAL VARIANCE</a:t>
            </a:r>
          </a:p>
          <a:p>
            <a:r>
              <a:rPr lang="en-US" sz="1000" dirty="0"/>
              <a:t>    (r=20, kernel=41×41)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⚡ THRESHOLD AUTO</a:t>
            </a:r>
          </a:p>
          <a:p>
            <a:r>
              <a:rPr lang="en-US" sz="1000" dirty="0"/>
              <a:t>    (4 × mean variance)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🎭 MORPHOLOGY OPEN</a:t>
            </a:r>
          </a:p>
          <a:p>
            <a:r>
              <a:rPr lang="en-US" sz="1000" dirty="0"/>
              <a:t>    (5×5 kernel)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🎯 FIND CONTOURS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🚫 FILTER BORDERS</a:t>
            </a:r>
          </a:p>
          <a:p>
            <a:r>
              <a:rPr lang="en-US" sz="1000" dirty="0"/>
              <a:t>    (Left: 200px, Others: 50px)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🔍 BUBBLE CANDIDATES</a:t>
            </a:r>
          </a:p>
          <a:p>
            <a:endParaRPr lang="en-US" sz="1000" dirty="0"/>
          </a:p>
          <a:p>
            <a:r>
              <a:rPr lang="en-US" sz="1000" dirty="0"/>
              <a:t>🖼️ ẢNH 1         🖼️ ẢNH 2         🖼️ ẢNH 3</a:t>
            </a:r>
          </a:p>
          <a:p>
            <a:r>
              <a:rPr lang="en-US" sz="1000" dirty="0"/>
              <a:t>┌───────────┐    ┌───────────┐    ┌───────────┐</a:t>
            </a:r>
          </a:p>
          <a:p>
            <a:r>
              <a:rPr lang="en-US" sz="1000" dirty="0"/>
              <a:t>│           │    │           │    │           │</a:t>
            </a:r>
          </a:p>
          <a:p>
            <a:r>
              <a:rPr lang="en-US" sz="1000" dirty="0"/>
              <a:t>│     ●     │    │      ●    │    │    ●      │</a:t>
            </a:r>
          </a:p>
          <a:p>
            <a:r>
              <a:rPr lang="en-US" sz="1000" dirty="0"/>
              <a:t>│           │    │           │    │           │</a:t>
            </a:r>
          </a:p>
          <a:p>
            <a:r>
              <a:rPr lang="en-US" sz="1000" dirty="0"/>
              <a:t>└───────────┘    └───────────┘    └───────────┘</a:t>
            </a:r>
          </a:p>
          <a:p>
            <a:r>
              <a:rPr lang="en-US" sz="1000" dirty="0"/>
              <a:t>    ↓                   ↓               ↓</a:t>
            </a:r>
          </a:p>
          <a:p>
            <a:r>
              <a:rPr lang="en-US" sz="1000" dirty="0"/>
              <a:t>    ████████████████████████████████████████</a:t>
            </a:r>
          </a:p>
          <a:p>
            <a:r>
              <a:rPr lang="en-US" sz="1000" dirty="0"/>
              <a:t>                    ↓</a:t>
            </a:r>
          </a:p>
          <a:p>
            <a:r>
              <a:rPr lang="en-US" sz="1000" dirty="0"/>
              <a:t>           BUBBLE CHUNG ĐƯỢC XÁC ĐỊNH!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┌─────────────────────────────────────────┐</a:t>
            </a:r>
          </a:p>
          <a:p>
            <a:r>
              <a:rPr lang="en-US" sz="1000" dirty="0"/>
              <a:t>│ ✗ ✗ ✗ ✗ ✗ ✗ ✗ ✗ ✗ ✗ ✗ ✗ ✗ ✗ ✗ ✗ ✗ │ 50px</a:t>
            </a:r>
          </a:p>
          <a:p>
            <a:r>
              <a:rPr lang="en-US" sz="1000" dirty="0"/>
              <a:t>│ ✗ ┌─────────────────────────────────┐ ✗ │</a:t>
            </a:r>
          </a:p>
          <a:p>
            <a:r>
              <a:rPr lang="en-US" sz="1000" dirty="0"/>
              <a:t>│ ✗ │                                 │ ✗ │</a:t>
            </a:r>
          </a:p>
          <a:p>
            <a:r>
              <a:rPr lang="en-US" sz="1000" dirty="0"/>
              <a:t>│ ✗ │    ○     ○             ○        │ ✗ │</a:t>
            </a:r>
          </a:p>
          <a:p>
            <a:r>
              <a:rPr lang="en-US" sz="1000" dirty="0"/>
              <a:t>│ ✗ │                                 │ ✗ │</a:t>
            </a:r>
          </a:p>
          <a:p>
            <a:r>
              <a:rPr lang="en-US" sz="1000" dirty="0"/>
              <a:t>│ ✗ │        ○        ●        ○      │ ✗ │</a:t>
            </a:r>
          </a:p>
          <a:p>
            <a:r>
              <a:rPr lang="en-US" sz="1000" dirty="0"/>
              <a:t>│ ✗ │              (Bubble)           │ ✗ │</a:t>
            </a:r>
          </a:p>
          <a:p>
            <a:r>
              <a:rPr lang="en-US" sz="1000" dirty="0"/>
              <a:t>│ ✗ │     ○             ○     ○       │ ✗ │</a:t>
            </a:r>
          </a:p>
          <a:p>
            <a:r>
              <a:rPr lang="en-US" sz="1000" dirty="0"/>
              <a:t>│ ✗ │                                 │ ✗ │</a:t>
            </a:r>
          </a:p>
          <a:p>
            <a:r>
              <a:rPr lang="en-US" sz="1000" dirty="0"/>
              <a:t>│ ✗ └─────────────────────────────────┘ ✗ │</a:t>
            </a:r>
          </a:p>
          <a:p>
            <a:r>
              <a:rPr lang="en-US" sz="1000" dirty="0"/>
              <a:t>│ ✗ ✗ ✗ ✗ ✗ ✗ ✗ ✗ ✗ ✗ ✗ ✗ ✗ ✗ ✗ ✗ ✗ │</a:t>
            </a:r>
          </a:p>
          <a:p>
            <a:r>
              <a:rPr lang="en-US" sz="1000" dirty="0"/>
              <a:t>│          200px                          │</a:t>
            </a:r>
          </a:p>
          <a:p>
            <a:r>
              <a:rPr lang="en-US" sz="1000" dirty="0"/>
              <a:t>└─────────────────────────────────────────┘</a:t>
            </a:r>
          </a:p>
          <a:p>
            <a:endParaRPr lang="en-US" sz="1000" dirty="0"/>
          </a:p>
          <a:p>
            <a:r>
              <a:rPr lang="en-US" sz="1000" dirty="0"/>
              <a:t>✓ = </a:t>
            </a:r>
            <a:r>
              <a:rPr lang="en-US" sz="1000" dirty="0" err="1"/>
              <a:t>Vùng</a:t>
            </a:r>
            <a:r>
              <a:rPr lang="en-US" sz="1000" dirty="0"/>
              <a:t> </a:t>
            </a:r>
            <a:r>
              <a:rPr lang="en-US" sz="1000" dirty="0" err="1"/>
              <a:t>xử</a:t>
            </a:r>
            <a:r>
              <a:rPr lang="en-US" sz="1000" dirty="0"/>
              <a:t> </a:t>
            </a:r>
            <a:r>
              <a:rPr lang="en-US" sz="1000" dirty="0" err="1"/>
              <a:t>lý</a:t>
            </a:r>
            <a:endParaRPr lang="en-US" sz="1000" dirty="0"/>
          </a:p>
          <a:p>
            <a:r>
              <a:rPr lang="en-US" sz="1000" dirty="0"/>
              <a:t>✗ = </a:t>
            </a:r>
            <a:r>
              <a:rPr lang="en-US" sz="1000" dirty="0" err="1"/>
              <a:t>Vùng</a:t>
            </a:r>
            <a:r>
              <a:rPr lang="en-US" sz="1000" dirty="0"/>
              <a:t> </a:t>
            </a:r>
            <a:r>
              <a:rPr lang="en-US" sz="1000" dirty="0" err="1"/>
              <a:t>loại</a:t>
            </a:r>
            <a:r>
              <a:rPr lang="en-US" sz="1000" dirty="0"/>
              <a:t> </a:t>
            </a:r>
            <a:r>
              <a:rPr lang="en-US" sz="1000" dirty="0" err="1"/>
              <a:t>bỏ</a:t>
            </a:r>
            <a:r>
              <a:rPr lang="en-US" sz="1000" dirty="0"/>
              <a:t> (border)</a:t>
            </a:r>
          </a:p>
          <a:p>
            <a:r>
              <a:rPr lang="en-US" sz="1000" dirty="0"/>
              <a:t>● = Bubble </a:t>
            </a:r>
            <a:r>
              <a:rPr lang="en-US" sz="1000" dirty="0" err="1"/>
              <a:t>được</a:t>
            </a:r>
            <a:r>
              <a:rPr lang="en-US" sz="1000" dirty="0"/>
              <a:t> </a:t>
            </a:r>
            <a:r>
              <a:rPr lang="en-US" sz="1000" dirty="0" err="1"/>
              <a:t>giữ</a:t>
            </a:r>
            <a:r>
              <a:rPr lang="en-US" sz="1000" dirty="0"/>
              <a:t> </a:t>
            </a:r>
            <a:r>
              <a:rPr lang="en-US" sz="1000" dirty="0" err="1"/>
              <a:t>lại</a:t>
            </a:r>
            <a:endParaRPr lang="en-US" sz="1000" dirty="0"/>
          </a:p>
          <a:p>
            <a:r>
              <a:rPr lang="en-US" sz="1000" dirty="0"/>
              <a:t>○ = Bubble </a:t>
            </a:r>
            <a:r>
              <a:rPr lang="en-US" sz="1000" dirty="0" err="1"/>
              <a:t>bị</a:t>
            </a:r>
            <a:r>
              <a:rPr lang="en-US" sz="1000" dirty="0"/>
              <a:t> </a:t>
            </a:r>
            <a:r>
              <a:rPr lang="en-US" sz="1000" dirty="0" err="1"/>
              <a:t>loại</a:t>
            </a:r>
            <a:r>
              <a:rPr lang="en-US" sz="1000" dirty="0"/>
              <a:t> </a:t>
            </a:r>
            <a:r>
              <a:rPr lang="en-US" sz="1000" dirty="0" err="1"/>
              <a:t>bỏ</a:t>
            </a:r>
            <a:r>
              <a:rPr lang="en-US" sz="1000" dirty="0"/>
              <a:t> (</a:t>
            </a:r>
            <a:r>
              <a:rPr lang="en-US" sz="1000" dirty="0" err="1"/>
              <a:t>gần</a:t>
            </a:r>
            <a:r>
              <a:rPr lang="en-US" sz="1000" dirty="0"/>
              <a:t> </a:t>
            </a:r>
            <a:r>
              <a:rPr lang="en-US" sz="1000" dirty="0" err="1"/>
              <a:t>biên</a:t>
            </a:r>
            <a:r>
              <a:rPr lang="en-US" sz="1000" dirty="0"/>
              <a:t>)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📁 INPUT</a:t>
            </a:r>
          </a:p>
          <a:p>
            <a:r>
              <a:rPr lang="en-US" sz="1000" dirty="0"/>
              <a:t>  ↓</a:t>
            </a:r>
          </a:p>
          <a:p>
            <a:r>
              <a:rPr lang="en-US" sz="1000" dirty="0"/>
              <a:t>🔍 GROUP BY PATTERN</a:t>
            </a:r>
          </a:p>
          <a:p>
            <a:r>
              <a:rPr lang="en-US" sz="1000" dirty="0"/>
              <a:t>  ↓</a:t>
            </a:r>
          </a:p>
          <a:p>
            <a:r>
              <a:rPr lang="en-US" sz="1000" dirty="0"/>
              <a:t>🔄 PROCESS EACH GROUP</a:t>
            </a:r>
          </a:p>
          <a:p>
            <a:r>
              <a:rPr lang="en-US" sz="1000" dirty="0"/>
              <a:t>  │</a:t>
            </a:r>
          </a:p>
          <a:p>
            <a:r>
              <a:rPr lang="en-US" sz="1000" dirty="0"/>
              <a:t>  ├── 🖼️ PROCESS EACH IMAGE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🌀 GAUSSIAN BLUR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📊 LOCAL VARIANCE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⚡ AUTO THRESHOLD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🎯 DETECT BUBBLES</a:t>
            </a:r>
          </a:p>
          <a:p>
            <a:r>
              <a:rPr lang="en-US" sz="1000" dirty="0"/>
              <a:t>  │</a:t>
            </a:r>
          </a:p>
          <a:p>
            <a:r>
              <a:rPr lang="en-US" sz="1000" dirty="0"/>
              <a:t>  ├── 🔄 MATCH BUBBLES ACROSS IMAGES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❓ COMMON BUBBLE? (≥3 images)</a:t>
            </a:r>
          </a:p>
          <a:p>
            <a:r>
              <a:rPr lang="en-US" sz="1000" dirty="0"/>
              <a:t>  │     ↓</a:t>
            </a:r>
          </a:p>
          <a:p>
            <a:r>
              <a:rPr lang="en-US" sz="1000" dirty="0"/>
              <a:t>  │     ├── ✅ YES → MARK &amp; CROP</a:t>
            </a:r>
          </a:p>
          <a:p>
            <a:r>
              <a:rPr lang="en-US" sz="1000" dirty="0"/>
              <a:t>  │     └── ❌ NO → "NO BUBBLE"</a:t>
            </a:r>
          </a:p>
          <a:p>
            <a:r>
              <a:rPr lang="en-US" sz="1000" dirty="0"/>
              <a:t>  │</a:t>
            </a:r>
          </a:p>
          <a:p>
            <a:r>
              <a:rPr lang="en-US" sz="1000" dirty="0"/>
              <a:t>  └── 📈 GENERATE REPORT</a:t>
            </a:r>
          </a:p>
          <a:p>
            <a:r>
              <a:rPr lang="en-US" sz="1000" dirty="0"/>
              <a:t>        ↓</a:t>
            </a:r>
          </a:p>
          <a:p>
            <a:r>
              <a:rPr lang="en-US" sz="1000" dirty="0"/>
              <a:t>        📊 EXCEL OUTPUT</a:t>
            </a:r>
          </a:p>
        </p:txBody>
      </p:sp>
    </p:spTree>
    <p:extLst>
      <p:ext uri="{BB962C8B-B14F-4D97-AF65-F5344CB8AC3E}">
        <p14:creationId xmlns:p14="http://schemas.microsoft.com/office/powerpoint/2010/main" val="310167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8DB78-1267-9EC1-10DC-46A660A1D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" y="0"/>
            <a:ext cx="181259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39F86-BB0F-1B05-A656-06822D33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19" y="1955248"/>
            <a:ext cx="2956561" cy="184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17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0C36F6-4097-A7BB-E79D-6A98E4626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624" y="73318"/>
            <a:ext cx="6757416" cy="6648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D43D63-F859-AA5B-2FA8-4BC6EDF3C766}"/>
              </a:ext>
            </a:extLst>
          </p:cNvPr>
          <p:cNvSpPr txBox="1"/>
          <p:nvPr/>
        </p:nvSpPr>
        <p:spPr>
          <a:xfrm>
            <a:off x="7628382" y="1380066"/>
            <a:ext cx="3710178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# ĐIỀU KIỆN 1: Slope </a:t>
            </a:r>
            <a:r>
              <a:rPr lang="en-US" sz="1050" dirty="0" err="1"/>
              <a:t>cơ</a:t>
            </a:r>
            <a:r>
              <a:rPr lang="en-US" sz="1050" dirty="0"/>
              <a:t> </a:t>
            </a:r>
            <a:r>
              <a:rPr lang="en-US" sz="1050" dirty="0" err="1"/>
              <a:t>bản</a:t>
            </a:r>
            <a:endParaRPr lang="en-US" sz="1050" dirty="0"/>
          </a:p>
          <a:p>
            <a:r>
              <a:rPr lang="en-US" sz="1050" dirty="0"/>
              <a:t>slope &gt; threshold[R/G/B]  # 0.005-0.008</a:t>
            </a:r>
          </a:p>
          <a:p>
            <a:endParaRPr lang="en-US" sz="1050" dirty="0"/>
          </a:p>
          <a:p>
            <a:r>
              <a:rPr lang="en-US" sz="1050" dirty="0"/>
              <a:t># ĐIỀU KIỆN 2: </a:t>
            </a:r>
            <a:r>
              <a:rPr lang="en-US" sz="1050" dirty="0" err="1"/>
              <a:t>Độ</a:t>
            </a:r>
            <a:r>
              <a:rPr lang="en-US" sz="1050" dirty="0"/>
              <a:t> </a:t>
            </a:r>
            <a:r>
              <a:rPr lang="en-US" sz="1050" dirty="0" err="1"/>
              <a:t>lệch</a:t>
            </a:r>
            <a:r>
              <a:rPr lang="en-US" sz="1050" dirty="0"/>
              <a:t> </a:t>
            </a:r>
            <a:r>
              <a:rPr lang="en-US" sz="1050" dirty="0" err="1"/>
              <a:t>tương</a:t>
            </a:r>
            <a:r>
              <a:rPr lang="en-US" sz="1050" dirty="0"/>
              <a:t> </a:t>
            </a:r>
            <a:r>
              <a:rPr lang="en-US" sz="1050" dirty="0" err="1"/>
              <a:t>đối</a:t>
            </a:r>
            <a:r>
              <a:rPr lang="en-US" sz="1050" dirty="0"/>
              <a:t>  </a:t>
            </a:r>
          </a:p>
          <a:p>
            <a:r>
              <a:rPr lang="en-US" sz="1050" dirty="0"/>
              <a:t>(slope - </a:t>
            </a:r>
            <a:r>
              <a:rPr lang="en-US" sz="1050" dirty="0" err="1"/>
              <a:t>avg_region_slope</a:t>
            </a:r>
            <a:r>
              <a:rPr lang="en-US" sz="1050" dirty="0"/>
              <a:t>) / </a:t>
            </a:r>
            <a:r>
              <a:rPr lang="en-US" sz="1050" dirty="0" err="1"/>
              <a:t>avg_region_slope</a:t>
            </a:r>
            <a:r>
              <a:rPr lang="en-US" sz="1050" dirty="0"/>
              <a:t> &gt; 3.0</a:t>
            </a:r>
          </a:p>
          <a:p>
            <a:endParaRPr lang="en-US" sz="1050" dirty="0"/>
          </a:p>
          <a:p>
            <a:r>
              <a:rPr lang="en-US" sz="1050" dirty="0"/>
              <a:t># → CẢ HAI </a:t>
            </a:r>
            <a:r>
              <a:rPr lang="en-US" sz="1050" dirty="0" err="1"/>
              <a:t>điều</a:t>
            </a:r>
            <a:r>
              <a:rPr lang="en-US" sz="1050" dirty="0"/>
              <a:t> </a:t>
            </a:r>
            <a:r>
              <a:rPr lang="en-US" sz="1050" dirty="0" err="1"/>
              <a:t>kiện</a:t>
            </a:r>
            <a:r>
              <a:rPr lang="en-US" sz="1050" dirty="0"/>
              <a:t> </a:t>
            </a:r>
            <a:r>
              <a:rPr lang="en-US" sz="1050" dirty="0" err="1"/>
              <a:t>phải</a:t>
            </a:r>
            <a:r>
              <a:rPr lang="en-US" sz="1050" dirty="0"/>
              <a:t> </a:t>
            </a:r>
            <a:r>
              <a:rPr lang="en-US" sz="1050" dirty="0" err="1"/>
              <a:t>thỏa</a:t>
            </a:r>
            <a:r>
              <a:rPr lang="en-US" sz="1050" dirty="0"/>
              <a:t> </a:t>
            </a:r>
            <a:r>
              <a:rPr lang="en-US" sz="1050" dirty="0" err="1"/>
              <a:t>mãn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3054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8BCE2-1F21-929B-9562-8A93BEA20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" y="92720"/>
            <a:ext cx="8180448" cy="652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0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1178</Words>
  <Application>Microsoft Office PowerPoint</Application>
  <PresentationFormat>Widescreen</PresentationFormat>
  <Paragraphs>186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Vương Nguyễn</dc:creator>
  <cp:lastModifiedBy>Vương Nguyễn</cp:lastModifiedBy>
  <cp:revision>4</cp:revision>
  <dcterms:created xsi:type="dcterms:W3CDTF">2025-11-24T14:24:22Z</dcterms:created>
  <dcterms:modified xsi:type="dcterms:W3CDTF">2025-11-24T15:40:15Z</dcterms:modified>
</cp:coreProperties>
</file>